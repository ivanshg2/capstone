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BD4S15/hey6h7D3KzIUwAsFP9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CA935EC-FEEF-4593-B179-75AE5BCBDAE0}">
  <a:tblStyle styleId="{BCA935EC-FEEF-4593-B179-75AE5BCBDA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8d1b6c30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f8d1b6c30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d1b6c30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b36c2714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b36c2714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fb36c2714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b36c27143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b36c27143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fb36c27143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41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141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APT122 · PTY4614 · Duoc UC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640080" y="228600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KalliCode Platform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640080" y="338328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Fusión del Motor CodeMapping y la Fábrica de Producción de Software (E1 + E2)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1"/>
          <p:cNvCxnSpPr/>
          <p:nvPr/>
        </p:nvCxnSpPr>
        <p:spPr>
          <a:xfrm>
            <a:off x="640080" y="4572000"/>
            <a:ext cx="2743200" cy="0"/>
          </a:xfrm>
          <a:prstGeom prst="straightConnector1">
            <a:avLst/>
          </a:prstGeom>
          <a:noFill/>
          <a:ln cap="flat" cmpd="sng" w="1905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1"/>
          <p:cNvSpPr txBox="1"/>
          <p:nvPr/>
        </p:nvSpPr>
        <p:spPr>
          <a:xfrm>
            <a:off x="640080" y="4846320"/>
            <a:ext cx="2651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Iván Henríquez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Tech Lead &amp; LLM/Semántica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3337560" y="4846320"/>
            <a:ext cx="2651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Anderson González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Arquitecto de BD, Seguridad &amp; RLS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6035040" y="4846320"/>
            <a:ext cx="2651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Mario García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Ing. Core, Orquestador &amp; Consultas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8732520" y="4846320"/>
            <a:ext cx="2651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Francisco Salinas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Ing. de Datos, Parsers &amp; Ingesta AST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 txBox="1"/>
          <p:nvPr/>
        </p:nvSpPr>
        <p:spPr>
          <a:xfrm>
            <a:off x="548640" y="45720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El problema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¿Por qué construir KalliCode?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48640" y="187452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 txBox="1"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1234440" y="182880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Falta de contexto global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1985254" y="2212850"/>
            <a:ext cx="837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Las herramientas de generación de código con IA operan de forma aislada, sin conciencia del repositorio completo ni del modelo relacional del cliente.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 txBox="1"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1234440" y="324612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Inconsistencia arquitectónica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1985251" y="3666800"/>
            <a:ext cx="837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Sin un mapa del código existente, los cambios generados por IA degradan la coherencia del sistema y aumentan la tasa de regresiones.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1234440" y="466344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Falta de trazabilidad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1985256" y="5074975"/>
            <a:ext cx="9194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Los equipos necesitan un pipeline auditable, con aprobación humana en los puntos críticos, no una caja negra.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8d1b6c30c_0_0"/>
          <p:cNvSpPr/>
          <p:nvPr/>
        </p:nvSpPr>
        <p:spPr>
          <a:xfrm>
            <a:off x="8037950" y="1737360"/>
            <a:ext cx="3840600" cy="4389000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f8d1b6c30c_0_0"/>
          <p:cNvSpPr txBox="1"/>
          <p:nvPr/>
        </p:nvSpPr>
        <p:spPr>
          <a:xfrm>
            <a:off x="8312270" y="1965960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KalliCode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f8d1b6c30c_0_0"/>
          <p:cNvSpPr txBox="1"/>
          <p:nvPr/>
        </p:nvSpPr>
        <p:spPr>
          <a:xfrm>
            <a:off x="8312270" y="2423160"/>
            <a:ext cx="32919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Automatiza la producción de software con un pipeline de agentes de IA, auditado y con gates de aprobación humana.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f8d1b6c30c_0_0"/>
          <p:cNvSpPr/>
          <p:nvPr/>
        </p:nvSpPr>
        <p:spPr>
          <a:xfrm>
            <a:off x="8312270" y="3703320"/>
            <a:ext cx="3291900" cy="329100"/>
          </a:xfrm>
          <a:prstGeom prst="roundRect">
            <a:avLst>
              <a:gd fmla="val 19444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8d1b6c30c_0_0"/>
          <p:cNvSpPr txBox="1"/>
          <p:nvPr/>
        </p:nvSpPr>
        <p:spPr>
          <a:xfrm>
            <a:off x="8312270" y="3703320"/>
            <a:ext cx="3291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Triage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f8d1b6c30c_0_0"/>
          <p:cNvSpPr/>
          <p:nvPr/>
        </p:nvSpPr>
        <p:spPr>
          <a:xfrm>
            <a:off x="8312270" y="4114800"/>
            <a:ext cx="3291900" cy="329100"/>
          </a:xfrm>
          <a:prstGeom prst="roundRect">
            <a:avLst>
              <a:gd fmla="val 19444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f8d1b6c30c_0_0"/>
          <p:cNvSpPr txBox="1"/>
          <p:nvPr/>
        </p:nvSpPr>
        <p:spPr>
          <a:xfrm>
            <a:off x="8312270" y="4114800"/>
            <a:ext cx="3291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f8d1b6c30c_0_0"/>
          <p:cNvSpPr/>
          <p:nvPr/>
        </p:nvSpPr>
        <p:spPr>
          <a:xfrm>
            <a:off x="8312270" y="4526280"/>
            <a:ext cx="3291900" cy="329100"/>
          </a:xfrm>
          <a:prstGeom prst="roundRect">
            <a:avLst>
              <a:gd fmla="val 19444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f8d1b6c30c_0_0"/>
          <p:cNvSpPr txBox="1"/>
          <p:nvPr/>
        </p:nvSpPr>
        <p:spPr>
          <a:xfrm>
            <a:off x="8312270" y="4526280"/>
            <a:ext cx="3291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f8d1b6c30c_0_0"/>
          <p:cNvSpPr/>
          <p:nvPr/>
        </p:nvSpPr>
        <p:spPr>
          <a:xfrm>
            <a:off x="8312270" y="4937760"/>
            <a:ext cx="3291900" cy="329100"/>
          </a:xfrm>
          <a:prstGeom prst="roundRect">
            <a:avLst>
              <a:gd fmla="val 19444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f8d1b6c30c_0_0"/>
          <p:cNvSpPr txBox="1"/>
          <p:nvPr/>
        </p:nvSpPr>
        <p:spPr>
          <a:xfrm>
            <a:off x="8312270" y="4937760"/>
            <a:ext cx="3291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QA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f8d1b6c30c_0_0"/>
          <p:cNvSpPr/>
          <p:nvPr/>
        </p:nvSpPr>
        <p:spPr>
          <a:xfrm>
            <a:off x="8312270" y="5349240"/>
            <a:ext cx="3291900" cy="329100"/>
          </a:xfrm>
          <a:prstGeom prst="roundRect">
            <a:avLst>
              <a:gd fmla="val 19444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f8d1b6c30c_0_0"/>
          <p:cNvSpPr txBox="1"/>
          <p:nvPr/>
        </p:nvSpPr>
        <p:spPr>
          <a:xfrm>
            <a:off x="8312270" y="5349240"/>
            <a:ext cx="3291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f8d1b6c30c_0_0"/>
          <p:cNvSpPr/>
          <p:nvPr/>
        </p:nvSpPr>
        <p:spPr>
          <a:xfrm>
            <a:off x="8312270" y="5760720"/>
            <a:ext cx="3291900" cy="329100"/>
          </a:xfrm>
          <a:prstGeom prst="roundRect">
            <a:avLst>
              <a:gd fmla="val 19444" name="adj"/>
            </a:avLst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f8d1b6c30c_0_0"/>
          <p:cNvSpPr txBox="1"/>
          <p:nvPr/>
        </p:nvSpPr>
        <p:spPr>
          <a:xfrm>
            <a:off x="8312270" y="5760720"/>
            <a:ext cx="3291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Deploy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f8d1b6c30c_0_0"/>
          <p:cNvSpPr txBox="1"/>
          <p:nvPr/>
        </p:nvSpPr>
        <p:spPr>
          <a:xfrm>
            <a:off x="548640" y="45720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Que es Kallicode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f8d1b6c30c_0_0"/>
          <p:cNvSpPr txBox="1"/>
          <p:nvPr/>
        </p:nvSpPr>
        <p:spPr>
          <a:xfrm>
            <a:off x="548650" y="2041825"/>
            <a:ext cx="6364200" cy="33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350"/>
              <a:buFont typeface="Calibri"/>
              <a:buChar char="●"/>
            </a:pPr>
            <a:r>
              <a:rPr lang="en-US" sz="135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KalliCode es una plataforma de ingeniería de software impulsada por Inteligencia Artificial diseñada para automatizar de extremo a extremo el ciclo de desarrollo bajo el paradigma «del ticket al Pull Request». </a:t>
            </a:r>
            <a:endParaRPr sz="1350">
              <a:solidFill>
                <a:srgbClr val="5B64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5B64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Char char="●"/>
            </a:pPr>
            <a:r>
              <a:rPr lang="en-US" sz="135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Su objetivo es recibir requerimientos de negocio o reportes de fallos y generar soluciones de código probadas y auditadas, garantizando que los agentes de IA no introduzcan regresiones ni actúen sin supervisión humana.</a:t>
            </a:r>
            <a:r>
              <a:rPr lang="en-US" sz="125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36c27143_0_0"/>
          <p:cNvSpPr txBox="1"/>
          <p:nvPr/>
        </p:nvSpPr>
        <p:spPr>
          <a:xfrm>
            <a:off x="548640" y="45720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Benchmarking: ¿Por qué KalliCode supera al mercado actual?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4" name="Google Shape;74;g3fb36c27143_0_0"/>
          <p:cNvGraphicFramePr/>
          <p:nvPr/>
        </p:nvGraphicFramePr>
        <p:xfrm>
          <a:off x="769375" y="139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{BCA935EC-FEEF-4593-B179-75AE5BCBDAE0}</a:tableStyleId>
              </a:tblPr>
              <a:tblGrid>
                <a:gridCol w="2571750"/>
                <a:gridCol w="2571750"/>
                <a:gridCol w="2571750"/>
                <a:gridCol w="2571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Característica / Criterio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Asistentes en Editor (Copilot / Cursor)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Agentes Autónomos (Devin / AutoGPT)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KalliCode Platform (E1 + E2)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Alcance de Contexto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Fragmento o archivo local activo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Búsqueda léxica superficial en repo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Grafo relacional-vectorial completo (AST + BD cliente)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Determinismo en Estados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Nulo (sugerencias en tiempo real)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 determinista (bucles abiertos)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Máquina formal de 16 estados inmutables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Supervisión Humana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Delegada al programador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Caja negra sin paradas formales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Compuertas obligatorias (Gates) con firmas HMAC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Aislamiento Multi-Tenant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Depende del host local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Riego de fuga en sandboxes compartidos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Row Level Security forzado en PostgreSQL 16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Límites de Edición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Sin fronteras duras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Modificaciones descontroladas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Frontera estricta por contrato (scope_paths)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5" name="Google Shape;75;g3fb36c27143_0_0"/>
          <p:cNvSpPr txBox="1"/>
          <p:nvPr/>
        </p:nvSpPr>
        <p:spPr>
          <a:xfrm>
            <a:off x="769375" y="5127475"/>
            <a:ext cx="102363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Propuesta de Valor (I+D+i):</a:t>
            </a:r>
            <a:endParaRPr sz="1350">
              <a:solidFill>
                <a:srgbClr val="5B64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Transformar la IA generativa de un asistente probabilístico no confiable a un proceso industrial determinista, auditable y compatible con estándares de calidad corporativa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36c27143_0_43"/>
          <p:cNvSpPr txBox="1"/>
          <p:nvPr/>
        </p:nvSpPr>
        <p:spPr>
          <a:xfrm>
            <a:off x="548640" y="45720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Objetivos SMART y Métricas Técnicas de Calidad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3fb36c27143_0_43"/>
          <p:cNvSpPr txBox="1"/>
          <p:nvPr/>
        </p:nvSpPr>
        <p:spPr>
          <a:xfrm>
            <a:off x="677550" y="1986900"/>
            <a:ext cx="10447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sz="135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S: Unificar el motor de grafos de conocimiento sintáctico (CodeMapping) con la máquina de estados distribuidos de la fábrica sobre un monorepo Python 3.12 y Azure PostgreSQL.  </a:t>
            </a:r>
            <a:endParaRPr sz="1350">
              <a:solidFill>
                <a:srgbClr val="5B64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5B64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sz="135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 :</a:t>
            </a:r>
            <a:endParaRPr sz="1350">
              <a:solidFill>
                <a:srgbClr val="5B64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sz="135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Soporte y consulta de subgrafos de hasta 200.000 nodos con latencias k-hop inferiores a 150 ms</a:t>
            </a:r>
            <a:endParaRPr sz="1350">
              <a:solidFill>
                <a:srgbClr val="5B64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sz="135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100% de aislamiento multi-tenant verificado mediante suites de no-fuga para RLS</a:t>
            </a:r>
            <a:endParaRPr sz="1350">
              <a:solidFill>
                <a:srgbClr val="5B64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 sz="135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Cobertura de pruebas superior al 80% global y 95% en la máquina de estados finitos.</a:t>
            </a:r>
            <a:endParaRPr sz="1350">
              <a:solidFill>
                <a:srgbClr val="5B64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5B64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35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A :Respaldado en la arquitectura ADR-018 que consolida persistencia en PostgreSQL con pgvector, eliminando dependencias de Neo4j y Qdrant. </a:t>
            </a:r>
            <a:endParaRPr sz="1350">
              <a:solidFill>
                <a:srgbClr val="5B64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5B64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35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R:Reduce drásticamente la deuda técnica y el tiempo de entrega de soluciones de software auditadas para empresas clientes </a:t>
            </a:r>
            <a:endParaRPr sz="1350">
              <a:solidFill>
                <a:srgbClr val="5B64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5B64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US" sz="135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T:Ejecución estructurada en 12 Sprints semanales (1 de Septiembre al 23 de Noviembre de 2026) en un marco semestral de 18 semanas. 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Nuestro alcance: E1 + E2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548640" y="102412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El equipo fusiona dos dominios que normalmente construyen equipos separados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48640" y="1828800"/>
            <a:ext cx="5212080" cy="4297680"/>
          </a:xfrm>
          <a:prstGeom prst="roundRect">
            <a:avLst>
              <a:gd fmla="val 1277" name="adj"/>
            </a:avLst>
          </a:prstGeom>
          <a:solidFill>
            <a:srgbClr val="141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 txBox="1"/>
          <p:nvPr/>
        </p:nvSpPr>
        <p:spPr>
          <a:xfrm>
            <a:off x="868680" y="20574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E1 · CodeMapping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868680" y="2560320"/>
            <a:ext cx="4572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“cerebro”: ingiere repositorios multi-lenguaje, extrae AST con tree-sitter, introspecciona el esquema de BD del cliente y construye un grafo de conocimiento relacional-vectorial.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868680" y="4178808"/>
            <a:ext cx="109728" cy="109728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 txBox="1"/>
          <p:nvPr/>
        </p:nvSpPr>
        <p:spPr>
          <a:xfrm>
            <a:off x="1115568" y="406908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Parsers tree-sitter multi-lenguaje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868680" y="4745736"/>
            <a:ext cx="109728" cy="109728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 txBox="1"/>
          <p:nvPr/>
        </p:nvSpPr>
        <p:spPr>
          <a:xfrm>
            <a:off x="1115568" y="4636008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Ingesta AST y fixtures de referencia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868680" y="5312664"/>
            <a:ext cx="109728" cy="109728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1115568" y="5202936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Grafo en PostgreSQL 16 + pgvector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309360" y="1828800"/>
            <a:ext cx="5212080" cy="4297680"/>
          </a:xfrm>
          <a:prstGeom prst="roundRect">
            <a:avLst>
              <a:gd fmla="val 1277" name="adj"/>
            </a:avLst>
          </a:prstGeom>
          <a:solidFill>
            <a:srgbClr val="141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6629400" y="20574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E2 · Fábrica de Producción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6629400" y="2560320"/>
            <a:ext cx="4572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orquestador: mueve cada ticket por una máquina de estados finitos de 16 estados sobre Redis Streams, con gates obligatorios de aprobación humana.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6629400" y="4178808"/>
            <a:ext cx="109728" cy="109728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6876288" y="406908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Orquestador sobre Redis Streams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629400" y="4745736"/>
            <a:ext cx="109728" cy="109728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6876288" y="4636008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Namespacing multi-tenant seguro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629400" y="5312664"/>
            <a:ext cx="109728" cy="109728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6876288" y="5202936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Contrato de API interna e idempotencia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Stack técnico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548640" y="102412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Monorepo Python 3.12 sobre infraestructura cloud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48640" y="1828800"/>
            <a:ext cx="3611880" cy="1417320"/>
          </a:xfrm>
          <a:prstGeom prst="roundRect">
            <a:avLst>
              <a:gd fmla="val 3871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777240" y="199339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Lenguaje y gestor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777240" y="2359152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Python 3.12 · workspace uv · Ruff · Mypy estricto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389120" y="1828800"/>
            <a:ext cx="3611880" cy="1417320"/>
          </a:xfrm>
          <a:prstGeom prst="roundRect">
            <a:avLst>
              <a:gd fmla="val 3871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4617720" y="199339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4617720" y="2359152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Azure Database for PostgreSQL 16 Flexible Server + pgvector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8229600" y="1828800"/>
            <a:ext cx="3611880" cy="1417320"/>
          </a:xfrm>
          <a:prstGeom prst="roundRect">
            <a:avLst>
              <a:gd fmla="val 3871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8458200" y="199339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Mensajería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8458200" y="2359152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Redis Streams (orquestador, namespacing por tenant)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548640" y="3429000"/>
            <a:ext cx="3611880" cy="1417320"/>
          </a:xfrm>
          <a:prstGeom prst="roundRect">
            <a:avLst>
              <a:gd fmla="val 3871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777240" y="359359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777240" y="3959352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BGE-M3 para la capa semántica del grafo de conocimiento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389120" y="3429000"/>
            <a:ext cx="3611880" cy="1417320"/>
          </a:xfrm>
          <a:prstGeom prst="roundRect">
            <a:avLst>
              <a:gd fmla="val 3871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4617720" y="359359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Parsing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4617720" y="3959352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tree-sitter multi-lenguaje (TS, TSX, JS, Python, Java, SQL)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8229600" y="3429000"/>
            <a:ext cx="3611880" cy="1417320"/>
          </a:xfrm>
          <a:prstGeom prst="roundRect">
            <a:avLst>
              <a:gd fmla="val 3871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8458200" y="359359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Control de versiones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8458200" y="3959352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Monorepo Git compartido entre los </a:t>
            </a:r>
            <a:r>
              <a:rPr lang="en-US" sz="11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1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equipos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Equipo de proyecto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548640" y="102412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4 integrantes, cada uno a cargo de un frente del sistema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48640" y="1828800"/>
            <a:ext cx="2697480" cy="4206240"/>
          </a:xfrm>
          <a:prstGeom prst="roundRect">
            <a:avLst>
              <a:gd fmla="val 2034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777240" y="21031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777240" y="278892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Iván Henríquez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777240" y="32918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Tech Lead &amp; LLM/Semántica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777240" y="3977640"/>
            <a:ext cx="22860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Coordina el backlog, el tablero Jira y el enriquecimiento semántico del grafo.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364992" y="1828800"/>
            <a:ext cx="2697480" cy="4206240"/>
          </a:xfrm>
          <a:prstGeom prst="roundRect">
            <a:avLst>
              <a:gd fmla="val 2034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3593592" y="21031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3593592" y="21031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3593592" y="278892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Anderson González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3593592" y="32918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Arquitecto de BD, Seguridad &amp; RLS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3593592" y="3977640"/>
            <a:ext cx="22860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Diseña el esquema relacional-vectorial y las políticas de seguridad multi-tenant.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6181344" y="1828800"/>
            <a:ext cx="2697480" cy="4206240"/>
          </a:xfrm>
          <a:prstGeom prst="roundRect">
            <a:avLst>
              <a:gd fmla="val 2034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6409944" y="210312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6409944" y="21031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6409944" y="278892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Mario García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6409944" y="32918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Ingeniero Core, Orquestador &amp; Consultas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6409944" y="3977640"/>
            <a:ext cx="22860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Construye el orquestador sobre Redis Streams y las consultas del grafo.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8997696" y="1828800"/>
            <a:ext cx="2697480" cy="4206240"/>
          </a:xfrm>
          <a:prstGeom prst="roundRect">
            <a:avLst>
              <a:gd fmla="val 203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9226296" y="2103120"/>
            <a:ext cx="548640" cy="54864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 txBox="1"/>
          <p:nvPr/>
        </p:nvSpPr>
        <p:spPr>
          <a:xfrm>
            <a:off x="9226296" y="21031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9226296" y="278892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Francisco Salinas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9226296" y="32918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Ingeniero de Datos, Parsers &amp; Ingesta AST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9226296" y="3977640"/>
            <a:ext cx="22860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 los parsers tree-sitter y la ingesta de AST multi-lenguaje.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Alcance del proyecto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548640" y="102412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Qué construimos en estas 12 semanas — y qué queda fuera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fmla="val 1304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 txBox="1"/>
          <p:nvPr/>
        </p:nvSpPr>
        <p:spPr>
          <a:xfrm>
            <a:off x="822960" y="20574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Dentro del alcance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822960" y="2660904"/>
            <a:ext cx="128016" cy="12801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1097280" y="2532888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Motor CodeMapping: ingesta, parsers, grafo de conocimiento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822960" y="3319272"/>
            <a:ext cx="128016" cy="12801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 txBox="1"/>
          <p:nvPr/>
        </p:nvSpPr>
        <p:spPr>
          <a:xfrm>
            <a:off x="1097280" y="3191256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Fábrica de Producción: orquestador y máquina de estados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822960" y="3977640"/>
            <a:ext cx="128016" cy="12801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1097280" y="3849624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Seguridad y namespacing multi-tenant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822960" y="4636008"/>
            <a:ext cx="128016" cy="12801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1097280" y="4507992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Migración del grafo a PostgreSQL + pgvector (ADR-018)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822960" y="5294376"/>
            <a:ext cx="128016" cy="12801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 txBox="1"/>
          <p:nvPr/>
        </p:nvSpPr>
        <p:spPr>
          <a:xfrm>
            <a:off x="1097280" y="516636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Suite de tests y fixtures de referencia multi-lenguaje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6217920" y="1828800"/>
            <a:ext cx="5394960" cy="4206240"/>
          </a:xfrm>
          <a:prstGeom prst="roundRect">
            <a:avLst>
              <a:gd fmla="val 130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 txBox="1"/>
          <p:nvPr/>
        </p:nvSpPr>
        <p:spPr>
          <a:xfrm>
            <a:off x="6492240" y="20574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CADCFC"/>
                </a:solidFill>
                <a:latin typeface="Cambria"/>
                <a:ea typeface="Cambria"/>
                <a:cs typeface="Cambria"/>
                <a:sym typeface="Cambria"/>
              </a:rPr>
              <a:t>Fuera del alcance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492240" y="2660904"/>
            <a:ext cx="128016" cy="128016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 txBox="1"/>
          <p:nvPr/>
        </p:nvSpPr>
        <p:spPr>
          <a:xfrm>
            <a:off x="6766560" y="2532888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Portal Cliente (React/TypeScript)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492240" y="3319272"/>
            <a:ext cx="128016" cy="128016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 txBox="1"/>
          <p:nvPr/>
        </p:nvSpPr>
        <p:spPr>
          <a:xfrm>
            <a:off x="6766560" y="3191256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Consola de Administración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6492240" y="3977640"/>
            <a:ext cx="128016" cy="128016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6766560" y="3849624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Etapas QA, Security y Deploy del pipeline completo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6492240" y="4636008"/>
            <a:ext cx="128016" cy="128016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6766560" y="4507992"/>
            <a:ext cx="4663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Otros 4 equipos del programa KalliCode (E3-E6)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Plan de trabajo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548640" y="102412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Tres fases, de la definición del proyecto al cierre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548640" y="1920240"/>
            <a:ext cx="3520440" cy="3931920"/>
          </a:xfrm>
          <a:prstGeom prst="roundRect">
            <a:avLst>
              <a:gd fmla="val 1558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 txBox="1"/>
          <p:nvPr/>
        </p:nvSpPr>
        <p:spPr>
          <a:xfrm>
            <a:off x="822960" y="21488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822960" y="251460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Definición de Proyecto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822960" y="3200400"/>
            <a:ext cx="29260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Documentación formal, acta de constitución, diseño (requerimientos, diagramas, modelo de datos).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114800" y="3657600"/>
            <a:ext cx="320040" cy="32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4434840" y="1920240"/>
            <a:ext cx="3520440" cy="3931920"/>
          </a:xfrm>
          <a:prstGeom prst="roundRect">
            <a:avLst>
              <a:gd fmla="val 1558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 txBox="1"/>
          <p:nvPr/>
        </p:nvSpPr>
        <p:spPr>
          <a:xfrm>
            <a:off x="4709160" y="21488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Fase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4709160" y="251460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Desarrollo y Avance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4709160" y="3200400"/>
            <a:ext cx="29260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Construcción del motor CodeMapping y la Fábrica de Producción; informe final del proyecto.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8001000" y="3657600"/>
            <a:ext cx="320040" cy="32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8321040" y="1920240"/>
            <a:ext cx="3520440" cy="3931920"/>
          </a:xfrm>
          <a:prstGeom prst="roundRect">
            <a:avLst>
              <a:gd fmla="val 1558" name="adj"/>
            </a:avLst>
          </a:prstGeom>
          <a:solidFill>
            <a:srgbClr val="F4F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 txBox="1"/>
          <p:nvPr/>
        </p:nvSpPr>
        <p:spPr>
          <a:xfrm>
            <a:off x="8595360" y="21488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Fase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8595360" y="251460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Cierre y Evidencias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8595360" y="3200400"/>
            <a:ext cx="29260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478"/>
                </a:solidFill>
                <a:latin typeface="Calibri"/>
                <a:ea typeface="Calibri"/>
                <a:cs typeface="Calibri"/>
                <a:sym typeface="Calibri"/>
              </a:rPr>
              <a:t>Aplicación funcional, evidencias del sistema y presentación final del proyecto.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41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9144000" y="4114800"/>
            <a:ext cx="5486400" cy="5486400"/>
          </a:xfrm>
          <a:prstGeom prst="ellipse">
            <a:avLst/>
          </a:prstGeom>
          <a:solidFill>
            <a:srgbClr val="141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 txBox="1"/>
          <p:nvPr/>
        </p:nvSpPr>
        <p:spPr>
          <a:xfrm>
            <a:off x="640080" y="2651760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lang="en-US"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Por su atención , muchas gracias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640080" y="35661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KalliCode Platform · Equipo APT122 · Capstone PTY4614 · Duoc UC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2026-09-10T18:51:54Z</dcterms:created>
  <dc:creator>PptxGenJS</dc:creator>
</cp:coreProperties>
</file>